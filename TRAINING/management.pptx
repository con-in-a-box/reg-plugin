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202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Management &amp; Help Desk Manual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Registration leads and Help Desk — CONvergence Check-In Extension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202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Overview &amp; Setup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How the Extension Works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Chrome extension running inside Neon CRM — no server, no build step.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Reads attendee/registration pages, validates eligibility, writes check-in data back to Neon.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Volunteers never type badge numbers, dates, or times.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Settings are per-workstation — changes on one machine don't affect others.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Configure each station before the shift starts.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Two flows in one install: Registration mode and Merchandise mode.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Set on the Options page. Each station runs one mode.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The Options Page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53035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20272"/>
                </a:solidFill>
              </a:rPr>
              <a:t>CONvergence Check-In — Options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Extension Mode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92938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Registration (badge) ● Merchandise pickup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313432"/>
            <a:ext cx="3931920" cy="18288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2432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Enable Management Override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95351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Reveals password field + manager controls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3337560"/>
            <a:ext cx="3931920" cy="18288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64845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Behavior (manager only)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977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Regular ● Debugging (pre-con walk)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4361688"/>
            <a:ext cx="3931920" cy="18288"/>
          </a:xfrm>
          <a:prstGeom prst="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67258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Pop-up behavior (manager only)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0017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Automated (modal) ● Manual (click icon)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5806440"/>
            <a:ext cx="1280160" cy="347472"/>
          </a:xfrm>
          <a:prstGeom prst="roundRect">
            <a:avLst>
              <a:gd name="adj" fmla="val 10526"/>
            </a:avLst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8064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Save Options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63440" y="1005840"/>
            <a:ext cx="416052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Right-click toolbar icon → Options</a:t>
            </a: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Settings persist per workstation until changed.</a:t>
            </a: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Always click Save Options to apply.</a:t>
            </a: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Config check panel — always visible.</a:t>
            </a:r>
            <a:endParaRPr lang="en-US" sz="14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200" dirty="0">
                <a:solidFill>
                  <a:srgbClr val="CC0202"/>
                </a:solidFill>
              </a:rPr>
              <a:t>Red = annual-update error. Fix before con.</a:t>
            </a:r>
            <a:endParaRPr lang="en-US" sz="14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Yellow = warning. Review before con.</a:t>
            </a: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Maintenance panel (manager-only):</a:t>
            </a:r>
            <a:endParaRPr lang="en-US" sz="14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Tab check, cache reset, storage dump.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202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Modes &amp; Pop-up Behavior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Registration Mode vs Merchandise Mode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286000" cy="5029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Setting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51760" y="960120"/>
            <a:ext cx="3291840" cy="5029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9601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Registration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89320" y="960120"/>
            <a:ext cx="3291840" cy="5029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89320" y="9601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Merchandise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2286000" cy="777240"/>
          </a:xfrm>
          <a:prstGeom prst="rect">
            <a:avLst/>
          </a:prstGeom>
          <a:solidFill>
            <a:srgbClr val="FBFA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4630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Purpose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463040"/>
            <a:ext cx="3291840" cy="777240"/>
          </a:xfrm>
          <a:prstGeom prst="rect">
            <a:avLst/>
          </a:prstGeom>
          <a:solidFill>
            <a:srgbClr val="FBFA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630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Badge issuance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89320" y="1463040"/>
            <a:ext cx="3291840" cy="777240"/>
          </a:xfrm>
          <a:prstGeom prst="rect">
            <a:avLst/>
          </a:prstGeom>
          <a:solidFill>
            <a:srgbClr val="FBFA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4630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T-shirts &amp; Guides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2286000"/>
            <a:ext cx="2286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860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Toolbar face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51760" y="2286000"/>
            <a:ext cx="3291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2860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Reggie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89320" y="2286000"/>
            <a:ext cx="3291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22860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Connie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" y="3108960"/>
            <a:ext cx="2286000" cy="777240"/>
          </a:xfrm>
          <a:prstGeom prst="rect">
            <a:avLst/>
          </a:prstGeom>
          <a:solidFill>
            <a:srgbClr val="FBFA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1089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On-screen marker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51760" y="3108960"/>
            <a:ext cx="3291840" cy="777240"/>
          </a:xfrm>
          <a:prstGeom prst="rect">
            <a:avLst/>
          </a:prstGeom>
          <a:solidFill>
            <a:srgbClr val="FBFA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1089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—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89320" y="3108960"/>
            <a:ext cx="3291840" cy="777240"/>
          </a:xfrm>
          <a:prstGeom prst="rect">
            <a:avLst/>
          </a:prstGeom>
          <a:solidFill>
            <a:srgbClr val="FBFA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31089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Blue MERCH MODE banner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3931920"/>
            <a:ext cx="2286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39319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Validates holds?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51760" y="3931920"/>
            <a:ext cx="3291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9319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Yes — all checks apply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89320" y="3931920"/>
            <a:ext cx="3291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80760" y="39319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No — ordered items only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20040" y="4754880"/>
            <a:ext cx="2286000" cy="777240"/>
          </a:xfrm>
          <a:prstGeom prst="rect">
            <a:avLst/>
          </a:prstGeom>
          <a:solidFill>
            <a:srgbClr val="FBFA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475488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Guide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51760" y="4754880"/>
            <a:ext cx="3291840" cy="777240"/>
          </a:xfrm>
          <a:prstGeom prst="rect">
            <a:avLst/>
          </a:prstGeom>
          <a:solidFill>
            <a:srgbClr val="FBFA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475488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reg-checkin.html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989320" y="4754880"/>
            <a:ext cx="3291840" cy="777240"/>
          </a:xfrm>
          <a:prstGeom prst="rect">
            <a:avLst/>
          </a:prstGeom>
          <a:solidFill>
            <a:srgbClr val="FBFA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80760" y="475488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merch-checkin.html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Pop-up Behavior: Automated vs Manual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8503920" cy="2286000"/>
          </a:xfrm>
          <a:prstGeom prst="roundRect">
            <a:avLst>
              <a:gd name="adj" fmla="val 4000"/>
            </a:avLst>
          </a:prstGeom>
          <a:solidFill>
            <a:srgbClr val="F8F8F8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05840"/>
            <a:ext cx="8503920" cy="502920"/>
          </a:xfrm>
          <a:prstGeom prst="roundRect">
            <a:avLst>
              <a:gd name="adj" fmla="val 18182"/>
            </a:avLst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698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Automated (default — recommended)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• Check-in window opens in the page as a modal, automatically on page load.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002536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• Toolbar click re-opens it.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40487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• Modal is draggable by its title bar — position is remembered.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0720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• Best for a busy check-in line.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3566160"/>
            <a:ext cx="8503920" cy="2286000"/>
          </a:xfrm>
          <a:prstGeom prst="roundRect">
            <a:avLst>
              <a:gd name="adj" fmla="val 4000"/>
            </a:avLst>
          </a:prstGeom>
          <a:solidFill>
            <a:srgbClr val="F8F8F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3566160"/>
            <a:ext cx="8503920" cy="502920"/>
          </a:xfrm>
          <a:prstGeom prst="roundRect">
            <a:avLst>
              <a:gd name="adj" fmla="val 18182"/>
            </a:avLst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63016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Manual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41605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• Nothing opens automatically.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562856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• Volunteer clicks toolbar icon to open the classic small pop-up window.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96519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• Use as a fallback if the in-page modal conflicts with a Neon page.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C02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Management Override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Management Override — What It Does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502920"/>
          </a:xfrm>
          <a:prstGeom prst="rect">
            <a:avLst/>
          </a:prstGeom>
          <a:solidFill>
            <a:srgbClr val="CC0202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MANAGER OVERRIDE ACTIVE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Red MANAGER OVERRIDE ACTIVE bar on every screen (above).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Toolbar icon carries a purple M badge.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Red attendee rows get ⚠ Override — Check In → button instead of 'Send to Help Desk.'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Full red ⛔ DO NOT ISSUE BADGE detail still shows — override doesn't hide the reason.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Use override only after personally resolving the underlying issue.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Turn override OFF (uncheck + Save) when stepping away from a Help Desk workstation.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Management Override — Password Rules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594360"/>
          </a:xfrm>
          <a:prstGeom prst="roundRect">
            <a:avLst>
              <a:gd name="adj" fmla="val 12308"/>
            </a:avLst>
          </a:prstGeom>
          <a:solidFill>
            <a:srgbClr val="F7F0FC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33272"/>
            <a:ext cx="822960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The code stores only a cryptographic hash. The real password is never in the repo or source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Share the password VERBALLY or via a password manager only.</a:t>
            </a:r>
            <a:endParaRPr lang="en-US" sz="14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200" dirty="0">
                <a:solidFill>
                  <a:srgbClr val="CC0202"/>
                </a:solidFill>
              </a:rPr>
              <a:t>Never in email, Slack, GitHub, or any written note.</a:t>
            </a: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Rotate annually:</a:t>
            </a:r>
            <a:endParaRPr lang="en-US" sz="14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Open tools/generate-password-hash.html locally in Chrome (don't upload to GitHub).</a:t>
            </a:r>
            <a:endParaRPr lang="en-US" sz="14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Paste the new hash into config.js.</a:t>
            </a:r>
            <a:endParaRPr lang="en-US" sz="14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See ANNUAL_UPDATE_GUIDE.md for full steps.</a:t>
            </a: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endParaRPr lang="en-US" sz="14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Enabling it: Options → check Enable Management Override → enter password → Save Options.</a:t>
            </a:r>
            <a:endParaRPr lang="en-US" sz="14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Wrong password = options don't save, error message shown.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C02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Blocking Conditions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Red Conditions — Block Check-In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solidFill>
            <a:srgbClr val="FDE8E8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60120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C0202"/>
                </a:solidFill>
              </a:rPr>
              <a:t>Badge number is hidden until ALL red conditions clear AND all required fields are filled.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8503920" cy="777240"/>
          </a:xfrm>
          <a:prstGeom prst="roundRect">
            <a:avLst>
              <a:gd name="adj" fmla="val 5882"/>
            </a:avLst>
          </a:prstGeom>
          <a:solidFill>
            <a:srgbClr val="FFF5F5"/>
          </a:solidFill>
          <a:ln w="12700">
            <a:solidFill>
              <a:srgbClr val="FF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627632"/>
            <a:ext cx="384048" cy="384048"/>
          </a:xfrm>
          <a:prstGeom prst="ellipse">
            <a:avLst/>
          </a:prstGeom>
          <a:solidFill>
            <a:srgbClr val="CC0202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51790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Reg / Art Show / Ops Hold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517904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Hold on this registration or account.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151790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0202"/>
                </a:solidFill>
              </a:rPr>
              <a:t>Resolve at the respective department.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883664"/>
            <a:ext cx="7680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C0202"/>
                </a:solidFill>
              </a:rPr>
              <a:t>→ Resolve at the respective department.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350008"/>
            <a:ext cx="8503920" cy="777240"/>
          </a:xfrm>
          <a:prstGeom prst="roundRect">
            <a:avLst>
              <a:gd name="adj" fmla="val 5882"/>
            </a:avLst>
          </a:prstGeom>
          <a:solidFill>
            <a:srgbClr val="FFF5F5"/>
          </a:solidFill>
          <a:ln w="12700">
            <a:solidFill>
              <a:srgbClr val="FF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2514600"/>
            <a:ext cx="384048" cy="384048"/>
          </a:xfrm>
          <a:prstGeom prst="ellipse">
            <a:avLst/>
          </a:prstGeom>
          <a:solidFill>
            <a:srgbClr val="CC0202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40487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Not Paid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24048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Status isn't SUCCEEDED.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24048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0202"/>
                </a:solidFill>
              </a:rPr>
              <a:t>Send to cashier / Reg Head.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2770632"/>
            <a:ext cx="7680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C0202"/>
                </a:solidFill>
              </a:rPr>
              <a:t>→ Send to cashier / Reg Head.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3236976"/>
            <a:ext cx="8503920" cy="777240"/>
          </a:xfrm>
          <a:prstGeom prst="roundRect">
            <a:avLst>
              <a:gd name="adj" fmla="val 5882"/>
            </a:avLst>
          </a:prstGeom>
          <a:solidFill>
            <a:srgbClr val="FFF5F5"/>
          </a:solidFill>
          <a:ln w="12700">
            <a:solidFill>
              <a:srgbClr val="FFCC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3401568"/>
            <a:ext cx="384048" cy="384048"/>
          </a:xfrm>
          <a:prstGeom prst="ellipse">
            <a:avLst/>
          </a:prstGeom>
          <a:solidFill>
            <a:srgbClr val="CC0202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2918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Already Issued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32918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Badge already handed out.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0202"/>
                </a:solidFill>
              </a:rPr>
              <a:t>Help Desk — possible duplicate.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3657600"/>
            <a:ext cx="7680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C0202"/>
                </a:solidFill>
              </a:rPr>
              <a:t>→ Help Desk — possible duplicate.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4123944"/>
            <a:ext cx="8503920" cy="777240"/>
          </a:xfrm>
          <a:prstGeom prst="roundRect">
            <a:avLst>
              <a:gd name="adj" fmla="val 5882"/>
            </a:avLst>
          </a:prstGeom>
          <a:solidFill>
            <a:srgbClr val="FFF5F5"/>
          </a:solidFill>
          <a:ln w="12700">
            <a:solidFill>
              <a:srgbClr val="FF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288536"/>
            <a:ext cx="384048" cy="384048"/>
          </a:xfrm>
          <a:prstGeom prst="ellipse">
            <a:avLst/>
          </a:prstGeom>
          <a:solidFill>
            <a:srgbClr val="CC0202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17880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Wrong Year / Event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66160" y="417880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Registration isn't for this con.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0" y="417880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0202"/>
                </a:solidFill>
              </a:rPr>
              <a:t>Verify correct event in Neon.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14400" y="4544568"/>
            <a:ext cx="7680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C0202"/>
                </a:solidFill>
              </a:rPr>
              <a:t>→ Verify correct event in Neon.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0040" y="5010912"/>
            <a:ext cx="8503920" cy="777240"/>
          </a:xfrm>
          <a:prstGeom prst="roundRect">
            <a:avLst>
              <a:gd name="adj" fmla="val 5882"/>
            </a:avLst>
          </a:prstGeom>
          <a:solidFill>
            <a:srgbClr val="FFF5F5"/>
          </a:solidFill>
          <a:ln w="12700">
            <a:solidFill>
              <a:srgbClr val="FF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5175504"/>
            <a:ext cx="384048" cy="384048"/>
          </a:xfrm>
          <a:prstGeom prst="ellipse">
            <a:avLst/>
          </a:prstGeom>
          <a:solidFill>
            <a:srgbClr val="CC0202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506577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Name Mismatch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566160" y="506577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Non-transferable, name doesn't match.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83680" y="506577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0202"/>
                </a:solidFill>
              </a:rPr>
              <a:t>Help Desk.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4400" y="5431536"/>
            <a:ext cx="7680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C0202"/>
                </a:solidFill>
              </a:rPr>
              <a:t>→ Help Desk.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Yellow Conditions — Fixable at the Station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8503920" cy="2331720"/>
          </a:xfrm>
          <a:prstGeom prst="roundRect">
            <a:avLst>
              <a:gd name="adj" fmla="val 3922"/>
            </a:avLst>
          </a:prstGeom>
          <a:solidFill>
            <a:srgbClr val="FFFBF0"/>
          </a:solidFill>
          <a:ln w="12700">
            <a:solidFill>
              <a:srgbClr val="FFB4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70432"/>
            <a:ext cx="384048" cy="384048"/>
          </a:xfrm>
          <a:prstGeom prst="ellipse">
            <a:avLst/>
          </a:prstGeom>
          <a:solidFill>
            <a:srgbClr val="FFB400"/>
          </a:solidFill>
          <a:ln w="12700">
            <a:solidFill>
              <a:srgbClr val="FFB4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0972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Age Verification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Adult or Dealer ticket — ID hasn't been checked yet.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1031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Fix: Volunteer checks photo ID against cutoff date shown on screen, clicks Age Verified, ID Returned ✓.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3566160"/>
            <a:ext cx="8503920" cy="2331720"/>
          </a:xfrm>
          <a:prstGeom prst="roundRect">
            <a:avLst>
              <a:gd name="adj" fmla="val 3922"/>
            </a:avLst>
          </a:prstGeom>
          <a:solidFill>
            <a:srgbClr val="FFFBF0"/>
          </a:solidFill>
          <a:ln w="12700">
            <a:solidFill>
              <a:srgbClr val="FFB4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3730752"/>
            <a:ext cx="384048" cy="384048"/>
          </a:xfrm>
          <a:prstGeom prst="ellipse">
            <a:avLst/>
          </a:prstGeom>
          <a:solidFill>
            <a:srgbClr val="FFB400"/>
          </a:solidFill>
          <a:ln w="12700">
            <a:solidFill>
              <a:srgbClr val="FFB4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6576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Missing ICE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</a:rPr>
              <a:t>Emergency contact field is empty.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46634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Fix: Volunteer asks attendee, fills field on Neon form, clicks Re-check ↺.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6202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Pre-Con Field Check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(Debug Walk)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Why &amp; When to Run the Debug Walk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33272"/>
            <a:ext cx="8229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The extension finds Neon custom fields by matching label text. If Neon renames or reorders fields, matching silently breaks.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Run before con and after any Neon form change.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After admins change any attendee-form field label or order.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Before the first shift of each con (annual sanity check).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After any annual update to config.js fieldLabels.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Report flags any field the extension expects but can't find.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328332"/>
                </a:solidFill>
              </a:rPr>
              <a:t>Green report = check-in will resolve every field correctly.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CC0202"/>
                </a:solidFill>
              </a:rPr>
              <a:t>Red NOT FOUND items = config.js labels need updating.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Running the Debug Walk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78992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7899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078992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Options → enable Management Override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Enter password and save.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0040" y="1865376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8653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1792224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1865376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Set Behavior to Debugging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Options page → Debugging (pre-con field check walk). Save.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0040" y="2651760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6517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14400" y="2578608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2651760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Open any real Neon attendee page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Click the toolbar icon. Extension walks Account → Registration → Attendee automatically.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20040" y="3438144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343814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4400" y="3364992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438144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Review the report tab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No red NOT FOUND items = all good. Red items = update config.js labels.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20040" y="4224528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422452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14400" y="4151376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224528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Set Behavior back to Regular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⛔ Do this immediately. Leaving it on Debugging means every toolbar click triggers a walk instead of a check-in.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6202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Maintenance &amp; Escalation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Maintenance Tools (Options Page)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8503920" cy="1188720"/>
          </a:xfrm>
          <a:prstGeom prst="roundRect">
            <a:avLst>
              <a:gd name="adj" fmla="val 6154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97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20272"/>
                </a:solidFill>
              </a:rPr>
              <a:t>Check Neon tab(s)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Confirms extension scripts loaded on open Neon tabs. First step when nothing happens.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2331720"/>
            <a:ext cx="8503920" cy="1188720"/>
          </a:xfrm>
          <a:prstGeom prst="roundRect">
            <a:avLst>
              <a:gd name="adj" fmla="val 6154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20272"/>
                </a:solidFill>
              </a:rPr>
              <a:t>Clear cached scrape data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Wipes cached page reads without touching settings. Use when page shows stale data; reload Neon tab after.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3657600"/>
            <a:ext cx="8503920" cy="1188720"/>
          </a:xfrm>
          <a:prstGeom prst="roundRect">
            <a:avLst>
              <a:gd name="adj" fmla="val 6154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749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20272"/>
                </a:solidFill>
              </a:rPr>
              <a:t>Storage contents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4206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Raw dump of local storage. Share with IT when diagnosing.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" y="4983480"/>
            <a:ext cx="8503920" cy="1188720"/>
          </a:xfrm>
          <a:prstGeom prst="roundRect">
            <a:avLst>
              <a:gd name="adj" fmla="val 6154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5074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20272"/>
                </a:solidFill>
              </a:rPr>
              <a:t>Config check panel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55321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Always visible. Red = must fix before con. Yellow = review.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When to Call IT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457200"/>
          </a:xfrm>
          <a:prstGeom prst="roundRect">
            <a:avLst>
              <a:gd name="adj" fmla="val 16000"/>
            </a:avLst>
          </a:prstGeom>
          <a:solidFill>
            <a:srgbClr val="F7F0FC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3327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Point IT to DEVELOPER.MD and TROUBLESHOOTING.md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Config check or Debug Walk reports errors you can't resolve by re-running.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A condition fires that doesn't match reality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e.g. everyone shows 'Unknown ticket' → Neon field/ticket names probably changed.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Badge CSV won't download on a correctly-set-up station.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Extension doesn't load or scripts don't respond after reloads.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Annual update (event names, ticket names, merch catalog, password):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All in config.js — full checklist in ANNUAL_UPDATE_GUIDE.md.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Don't edit other files unless IT says to.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2026-05-30T18:39:00Z</dcterms:created>
  <dcterms:modified xsi:type="dcterms:W3CDTF">2026-05-30T18:39:00Z</dcterms:modified>
</cp:coreProperties>
</file>