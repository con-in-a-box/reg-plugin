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72B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Merchandise Pickup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</a:rPr>
              <a:t>Volunteer Training Guide — T-Shirts &amp; Souvenir Guides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73152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Before You Start Each Shift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371600" y="1005840"/>
            <a:ext cx="6400800" cy="548640"/>
          </a:xfrm>
          <a:prstGeom prst="roundRect">
            <a:avLst>
              <a:gd name="adj" fmla="val 10000"/>
            </a:avLst>
          </a:prstGeom>
          <a:solidFill>
            <a:srgbClr val="0072B2"/>
          </a:solidFill>
          <a:ln w="12700">
            <a:solidFill>
              <a:srgbClr val="0072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100584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MERCH MODE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</a:rPr>
              <a:t>This blue banner must appear at the top of every screen.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0040" y="2148840"/>
            <a:ext cx="8503920" cy="548640"/>
          </a:xfrm>
          <a:prstGeom prst="roundRect">
            <a:avLst>
              <a:gd name="adj" fmla="val 13333"/>
            </a:avLst>
          </a:prstGeom>
          <a:solidFill>
            <a:srgbClr val="F0E8F7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21992"/>
            <a:ext cx="8229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Toolbar face = CONNIE   |   Blue MERCH MODE banner on every screen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20040" y="2834640"/>
            <a:ext cx="8503920" cy="640080"/>
          </a:xfrm>
          <a:prstGeom prst="roundRect">
            <a:avLst>
              <a:gd name="adj" fmla="val 11429"/>
            </a:avLst>
          </a:prstGeom>
          <a:solidFill>
            <a:srgbClr val="FFF5F5"/>
          </a:solidFill>
          <a:ln w="12700">
            <a:solidFill>
              <a:srgbClr val="CC020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907792"/>
            <a:ext cx="82296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No MERCH MODE banner, or toolbar shows Reggie? STOP — tell your lead. Do not hand out any merchandise.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0040" y="3657600"/>
            <a:ext cx="8503920" cy="548640"/>
          </a:xfrm>
          <a:prstGeom prst="roundRect">
            <a:avLst>
              <a:gd name="adj" fmla="val 13333"/>
            </a:avLst>
          </a:prstGeom>
          <a:solidFill>
            <a:srgbClr val="F0FAF0"/>
          </a:solidFill>
          <a:ln w="12700">
            <a:solidFill>
              <a:srgbClr val="3283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730752"/>
            <a:ext cx="8229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No age checks or holds at this station. You only confirm what was ordered and hand it over.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0" y="6492240"/>
            <a:ext cx="9144000" cy="4572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73152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What the Toolbar Icon Color Means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84632" y="1097280"/>
            <a:ext cx="1920240" cy="1371600"/>
          </a:xfrm>
          <a:prstGeom prst="roundRect">
            <a:avLst>
              <a:gd name="adj" fmla="val 6667"/>
            </a:avLst>
          </a:prstGeom>
          <a:solidFill>
            <a:srgbClr val="F8F8F8"/>
          </a:solidFill>
          <a:ln w="12700">
            <a:solidFill>
              <a:srgbClr val="3283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43584" y="1234440"/>
            <a:ext cx="402336" cy="402336"/>
          </a:xfrm>
          <a:prstGeom prst="ellipse">
            <a:avLst/>
          </a:prstGeom>
          <a:solidFill>
            <a:srgbClr val="328332"/>
          </a:solidFill>
          <a:ln w="12700">
            <a:solidFill>
              <a:srgbClr val="3283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84632" y="166420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Green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30352" y="1975104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Ready — proceed normally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69464" y="1097280"/>
            <a:ext cx="1920240" cy="1371600"/>
          </a:xfrm>
          <a:prstGeom prst="roundRect">
            <a:avLst>
              <a:gd name="adj" fmla="val 6667"/>
            </a:avLst>
          </a:prstGeom>
          <a:solidFill>
            <a:srgbClr val="F8F8F8"/>
          </a:solidFill>
          <a:ln w="12700">
            <a:solidFill>
              <a:srgbClr val="FFB4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28416" y="1234440"/>
            <a:ext cx="402336" cy="402336"/>
          </a:xfrm>
          <a:prstGeom prst="ellipse">
            <a:avLst/>
          </a:prstGeom>
          <a:solidFill>
            <a:srgbClr val="FFB400"/>
          </a:solidFill>
          <a:ln w="12700">
            <a:solidFill>
              <a:srgbClr val="FFB4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69464" y="166420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Yellow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615184" y="1975104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Item not yet picked up — OK to hand out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54296" y="1097280"/>
            <a:ext cx="1920240" cy="1371600"/>
          </a:xfrm>
          <a:prstGeom prst="roundRect">
            <a:avLst>
              <a:gd name="adj" fmla="val 6667"/>
            </a:avLst>
          </a:prstGeom>
          <a:solidFill>
            <a:srgbClr val="F8F8F8"/>
          </a:solidFill>
          <a:ln w="12700">
            <a:solidFill>
              <a:srgbClr val="CC020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13248" y="1234440"/>
            <a:ext cx="402336" cy="402336"/>
          </a:xfrm>
          <a:prstGeom prst="ellipse">
            <a:avLst/>
          </a:prstGeom>
          <a:solidFill>
            <a:srgbClr val="CC0202"/>
          </a:solidFill>
          <a:ln w="12700">
            <a:solidFill>
              <a:srgbClr val="CC020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4296" y="166420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Red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700016" y="1975104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Stop — ask your lead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739128" y="1097280"/>
            <a:ext cx="1920240" cy="1371600"/>
          </a:xfrm>
          <a:prstGeom prst="roundRect">
            <a:avLst>
              <a:gd name="adj" fmla="val 6667"/>
            </a:avLst>
          </a:prstGeom>
          <a:solidFill>
            <a:srgbClr val="F8F8F8"/>
          </a:solidFill>
          <a:ln w="12700">
            <a:solidFill>
              <a:srgbClr val="77777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0" y="1234440"/>
            <a:ext cx="402336" cy="402336"/>
          </a:xfrm>
          <a:prstGeom prst="ellipse">
            <a:avLst/>
          </a:prstGeom>
          <a:solidFill>
            <a:srgbClr val="777777"/>
          </a:solidFill>
          <a:ln w="12700">
            <a:solidFill>
              <a:srgbClr val="77777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39128" y="166420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Grey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784848" y="1975104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Idle — not on a merch page yet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0040" y="3200400"/>
            <a:ext cx="8503920" cy="2560320"/>
          </a:xfrm>
          <a:prstGeom prst="rect">
            <a:avLst/>
          </a:prstGeom>
          <a:noFill/>
          <a:ln>
            <a:solidFill>
              <a:srgbClr val="BBBBBB"/>
            </a:solidFill>
            <a:prstDash val="dash"/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AAAAAA"/>
                </a:solidFill>
              </a:rPr>
              <a:t>[SCREENSHOT: Connie icon states in toolbar]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0" y="6492240"/>
            <a:ext cx="9144000" cy="4572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72B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4 Steps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73152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Steps at a Glance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475488" cy="475488"/>
          </a:xfrm>
          <a:prstGeom prst="ellipse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17043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14400" y="1097280"/>
            <a:ext cx="7863840" cy="713232"/>
          </a:xfrm>
          <a:prstGeom prst="roundRect">
            <a:avLst>
              <a:gd name="adj" fmla="val 7692"/>
            </a:avLst>
          </a:prstGeom>
          <a:solidFill>
            <a:srgbClr val="F9F8FC"/>
          </a:solidFill>
          <a:ln w="12700">
            <a:solidFill>
              <a:srgbClr val="E0DC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170432"/>
            <a:ext cx="7680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Open the attendee in Neon  </a:t>
            </a:r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Find them by name or account number. Open account page, click Connie icon.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20040" y="1956816"/>
            <a:ext cx="475488" cy="475488"/>
          </a:xfrm>
          <a:prstGeom prst="ellipse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195681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914400" y="1883664"/>
            <a:ext cx="7863840" cy="713232"/>
          </a:xfrm>
          <a:prstGeom prst="roundRect">
            <a:avLst>
              <a:gd name="adj" fmla="val 7692"/>
            </a:avLst>
          </a:prstGeom>
          <a:solidFill>
            <a:srgbClr val="F9F8FC"/>
          </a:solidFill>
          <a:ln w="12700">
            <a:solidFill>
              <a:srgbClr val="E0DC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1956816"/>
            <a:ext cx="7680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Pick the right person  </a:t>
            </a:r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List shows what each person ordered. Click Review Merch → on their row.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20040" y="2743200"/>
            <a:ext cx="475488" cy="475488"/>
          </a:xfrm>
          <a:prstGeom prst="ellipse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274320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914400" y="2670048"/>
            <a:ext cx="7863840" cy="713232"/>
          </a:xfrm>
          <a:prstGeom prst="roundRect">
            <a:avLst>
              <a:gd name="adj" fmla="val 7692"/>
            </a:avLst>
          </a:prstGeom>
          <a:solidFill>
            <a:srgbClr val="F9F8FC"/>
          </a:solidFill>
          <a:ln w="12700">
            <a:solidFill>
              <a:srgbClr val="E0DC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2743200"/>
            <a:ext cx="7680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Check off what you hand over  </a:t>
            </a:r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Tick the box for each item you give them now.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20040" y="3529584"/>
            <a:ext cx="475488" cy="475488"/>
          </a:xfrm>
          <a:prstGeom prst="ellipse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" y="352958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914400" y="3456432"/>
            <a:ext cx="7863840" cy="713232"/>
          </a:xfrm>
          <a:prstGeom prst="roundRect">
            <a:avLst>
              <a:gd name="adj" fmla="val 7692"/>
            </a:avLst>
          </a:prstGeom>
          <a:solidFill>
            <a:srgbClr val="F9F8FC"/>
          </a:solidFill>
          <a:ln w="12700">
            <a:solidFill>
              <a:srgbClr val="E0DC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3529584"/>
            <a:ext cx="7680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Hand over, then confirm  </a:t>
            </a:r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Give the items first, then click Confirm Pickup.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9144000" cy="4572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73152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Step 3 — The Checkbox Screen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1051560"/>
            <a:ext cx="4114800" cy="777240"/>
          </a:xfrm>
          <a:prstGeom prst="roundRect">
            <a:avLst>
              <a:gd name="adj" fmla="val 9412"/>
            </a:avLst>
          </a:prstGeom>
          <a:solidFill>
            <a:srgbClr val="FFFBF0"/>
          </a:solidFill>
          <a:ln w="12700">
            <a:solidFill>
              <a:srgbClr val="FFB4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216152"/>
            <a:ext cx="347472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AAAAA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2344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T-Shirt (Unisex L)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0040" y="2423160"/>
            <a:ext cx="4114800" cy="1188720"/>
          </a:xfrm>
          <a:prstGeom prst="roundRect">
            <a:avLst>
              <a:gd name="adj" fmla="val 6154"/>
            </a:avLst>
          </a:prstGeom>
          <a:solidFill>
            <a:srgbClr val="F0F0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587752"/>
            <a:ext cx="347472" cy="347472"/>
          </a:xfrm>
          <a:prstGeom prst="roundRect">
            <a:avLst>
              <a:gd name="adj" fmla="val 10526"/>
            </a:avLst>
          </a:prstGeom>
          <a:solidFill>
            <a:srgbClr val="E0F0E0"/>
          </a:solidFill>
          <a:ln w="12700">
            <a:solidFill>
              <a:srgbClr val="3283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58775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28332"/>
                </a:solidFill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6060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88888"/>
                </a:solidFill>
              </a:rPr>
              <a:t>Souvenir Guide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2953512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</a:rPr>
              <a:t>Already picked up: 07/03/2026 14:22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" y="3977640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328332"/>
          </a:solidFill>
          <a:ln w="12700">
            <a:solidFill>
              <a:srgbClr val="32833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397764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Confirm Pickup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663440" y="1051560"/>
            <a:ext cx="4160520" cy="640080"/>
          </a:xfrm>
          <a:prstGeom prst="roundRect">
            <a:avLst>
              <a:gd name="adj" fmla="val 11429"/>
            </a:avLst>
          </a:prstGeom>
          <a:solidFill>
            <a:srgbClr val="F0FAF0"/>
          </a:solidFill>
          <a:ln w="12700">
            <a:solidFill>
              <a:srgbClr val="3283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1124712"/>
            <a:ext cx="38862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Tick the box for each item you hand over right now.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663440" y="1828800"/>
            <a:ext cx="4160520" cy="914400"/>
          </a:xfrm>
          <a:prstGeom prst="roundRect">
            <a:avLst>
              <a:gd name="adj" fmla="val 8000"/>
            </a:avLst>
          </a:prstGeom>
          <a:solidFill>
            <a:srgbClr val="FFF5F5"/>
          </a:solidFill>
          <a:ln w="12700">
            <a:solidFill>
              <a:srgbClr val="CC020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1901952"/>
            <a:ext cx="38862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Greyed-out 'Already picked up' items were collected at an earlier visit. DO NOT hand out a second one.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663440" y="2880360"/>
            <a:ext cx="4160520" cy="640080"/>
          </a:xfrm>
          <a:prstGeom prst="roundRect">
            <a:avLst>
              <a:gd name="adj" fmla="val 11429"/>
            </a:avLst>
          </a:prstGeom>
          <a:solidFill>
            <a:srgbClr val="F0F7FF"/>
          </a:solidFill>
          <a:ln w="12700">
            <a:solidFill>
              <a:srgbClr val="0072B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00600" y="2953512"/>
            <a:ext cx="38862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Hand over the merch FIRST, then click Confirm Pickup.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9144000" cy="4572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73152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Already Picked Up — What To Do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685800"/>
          </a:xfrm>
          <a:prstGeom prst="roundRect">
            <a:avLst>
              <a:gd name="adj" fmla="val 10667"/>
            </a:avLst>
          </a:prstGeom>
          <a:solidFill>
            <a:srgbClr val="FFFBF0"/>
          </a:solidFill>
          <a:ln w="12700">
            <a:solidFill>
              <a:srgbClr val="FFB4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33272"/>
            <a:ext cx="822960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When an item shows Already picked up: [date/time], Neon has a record it was collected. The checkbox is locked.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783080"/>
            <a:ext cx="841248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</a:rPr>
              <a:t>If attendee says they never received it:</a:t>
            </a:r>
            <a:endParaRPr lang="en-US" sz="1500" dirty="0"/>
          </a:p>
          <a:p>
            <a:pPr marL="152400" indent="-152400">
              <a:spcBef>
                <a:spcPts val="600"/>
              </a:spcBef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Do not hand out another item on your own authority.</a:t>
            </a:r>
            <a:endParaRPr lang="en-US" sz="1500" dirty="0"/>
          </a:p>
          <a:p>
            <a:pPr marL="152400" indent="-152400">
              <a:spcBef>
                <a:spcPts val="600"/>
              </a:spcBef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Tell your lead — they can look up the record in Neon.</a:t>
            </a:r>
            <a:endParaRPr lang="en-US" sz="1500" dirty="0"/>
          </a:p>
          <a:p>
            <a:pPr marL="152400" indent="-152400">
              <a:spcBef>
                <a:spcPts val="600"/>
              </a:spcBef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The recording includes the exact date and time.</a:t>
            </a:r>
            <a:endParaRPr lang="en-US" sz="15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endParaRPr lang="en-US" sz="15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</a:rPr>
              <a:t>Never override a locked checkbox.</a:t>
            </a:r>
            <a:endParaRPr lang="en-US" sz="1500" dirty="0"/>
          </a:p>
          <a:p>
            <a:pPr marL="152400" indent="-152400">
              <a:spcBef>
                <a:spcPts val="600"/>
              </a:spcBef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Handing out a second item without manager approval is against policy.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492240"/>
            <a:ext cx="9144000" cy="4572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73152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When to Call a Manager / Lead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5120640"/>
          </a:xfrm>
          <a:prstGeom prst="roundRect">
            <a:avLst>
              <a:gd name="adj" fmla="val 1786"/>
            </a:avLst>
          </a:prstGeom>
          <a:solidFill>
            <a:srgbClr val="FFF5F5"/>
          </a:solidFill>
          <a:ln w="12700">
            <a:solidFill>
              <a:srgbClr val="CC020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05156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</a:rPr>
              <a:t>Toolbar is RED, or MERCH MODE banner is missing.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</a:rPr>
              <a:t>Attendee says they ordered something not in the list.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</a:rPr>
              <a:t>'Already picked up' shows but attendee says they never got it.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</a:rPr>
              <a:t>Screen says 'Attendee merch data not ready' or 'Could not record pickup.'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</a:rPr>
              <a:t>The person's name isn't in the attendee list at all.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20040" y="580644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C0202"/>
                </a:solidFill>
              </a:rPr>
              <a:t>When in doubt — don't hand out the item. Ask first.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6492240"/>
            <a:ext cx="9144000" cy="45720"/>
          </a:xfrm>
          <a:prstGeom prst="rect">
            <a:avLst/>
          </a:prstGeom>
          <a:solidFill>
            <a:srgbClr val="620272"/>
          </a:solidFill>
          <a:ln w="12700">
            <a:solidFill>
              <a:srgbClr val="620272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2026-05-30T18:39:00Z</dcterms:created>
  <dcterms:modified xsi:type="dcterms:W3CDTF">2026-05-30T18:39:00Z</dcterms:modified>
</cp:coreProperties>
</file>