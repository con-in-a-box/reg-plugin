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5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202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Registration Check-In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</a:rPr>
              <a:t>Volunteer Training Guide — Badge Issuance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20272"/>
          </a:solidFill>
          <a:ln w="12700">
            <a:solidFill>
              <a:srgbClr val="6202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Before You Start Each Shift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8503920" cy="640080"/>
          </a:xfrm>
          <a:prstGeom prst="roundRect">
            <a:avLst>
              <a:gd name="adj" fmla="val 11429"/>
            </a:avLst>
          </a:prstGeom>
          <a:solidFill>
            <a:srgbClr val="F0E8F7"/>
          </a:solidFill>
          <a:ln w="12700">
            <a:solidFill>
              <a:srgbClr val="6202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78992"/>
            <a:ext cx="8229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</a:rPr>
              <a:t>Toolbar face = REGGIE (not Connie)   |   NO blue "MERCH MODE" banner on any screen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" y="1783080"/>
            <a:ext cx="8503920" cy="640080"/>
          </a:xfrm>
          <a:prstGeom prst="roundRect">
            <a:avLst>
              <a:gd name="adj" fmla="val 11429"/>
            </a:avLst>
          </a:prstGeom>
          <a:solidFill>
            <a:srgbClr val="FFF5F5"/>
          </a:solidFill>
          <a:ln w="12700">
            <a:solidFill>
              <a:srgbClr val="CC020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856232"/>
            <a:ext cx="8229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</a:rPr>
              <a:t>If the toolbar shows Connie OR you see a MERCH MODE banner: STOP — tell your lead before doing anything.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560320"/>
            <a:ext cx="8412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Bef>
                <a:spcPts val="600"/>
              </a:spcBef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Extension is in Merchandise mode → manager must fix it on the Options page.</a:t>
            </a:r>
            <a:endParaRPr lang="en-US" sz="1500" dirty="0"/>
          </a:p>
          <a:p>
            <a:pPr marL="152400" indent="-152400">
              <a:spcBef>
                <a:spcPts val="600"/>
              </a:spcBef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Never try to fix the mode yourself.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0" y="6492240"/>
            <a:ext cx="9144000" cy="45720"/>
          </a:xfrm>
          <a:prstGeom prst="rect">
            <a:avLst/>
          </a:prstGeom>
          <a:solidFill>
            <a:srgbClr val="620272"/>
          </a:solidFill>
          <a:ln w="12700">
            <a:solidFill>
              <a:srgbClr val="620272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20272"/>
          </a:solidFill>
          <a:ln w="12700">
            <a:solidFill>
              <a:srgbClr val="6202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What the Toolbar Icon Color Means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84632" y="109728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F8F8F8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43584" y="1234440"/>
            <a:ext cx="402336" cy="402336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" y="166420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Blue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30352" y="1975104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Good — clear to issue badge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9464" y="109728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F8F8F8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28416" y="1234440"/>
            <a:ext cx="402336" cy="402336"/>
          </a:xfrm>
          <a:prstGeom prst="ellipse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9464" y="166420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Yellow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615184" y="1975104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Caution — read screen before doing anything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54296" y="109728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F8F8F8"/>
          </a:solidFill>
          <a:ln w="12700">
            <a:solidFill>
              <a:srgbClr val="CC020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13248" y="1234440"/>
            <a:ext cx="402336" cy="402336"/>
          </a:xfrm>
          <a:prstGeom prst="ellipse">
            <a:avLst/>
          </a:prstGeom>
          <a:solidFill>
            <a:srgbClr val="CC0202"/>
          </a:solidFill>
          <a:ln w="12700">
            <a:solidFill>
              <a:srgbClr val="CC020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54296" y="166420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Red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00016" y="1975104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Stop — send to Help Desk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39128" y="109728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F8F8F8"/>
          </a:solidFill>
          <a:ln w="12700">
            <a:solidFill>
              <a:srgbClr val="77777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0" y="1234440"/>
            <a:ext cx="402336" cy="402336"/>
          </a:xfrm>
          <a:prstGeom prst="ellipse">
            <a:avLst/>
          </a:prstGeom>
          <a:solidFill>
            <a:srgbClr val="777777"/>
          </a:solidFill>
          <a:ln w="12700">
            <a:solidFill>
              <a:srgbClr val="7777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39128" y="166420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Grey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784848" y="1975104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Idle — not on a check-in page yet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66666"/>
                </a:solidFill>
              </a:rPr>
              <a:t>The icon is always in the top-right corner of Chrome, next to the address bar.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20040" y="3246120"/>
            <a:ext cx="8503920" cy="36576"/>
          </a:xfrm>
          <a:prstGeom prst="rect">
            <a:avLst/>
          </a:prstGeom>
          <a:solidFill>
            <a:srgbClr val="E0DCE6"/>
          </a:solidFill>
          <a:ln w="12700">
            <a:solidFill>
              <a:srgbClr val="E0DC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383280"/>
            <a:ext cx="8503920" cy="2286000"/>
          </a:xfrm>
          <a:prstGeom prst="rect">
            <a:avLst/>
          </a:prstGeom>
          <a:noFill/>
          <a:ln>
            <a:solidFill>
              <a:srgbClr val="BBBBBB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AAAAA"/>
                </a:solidFill>
              </a:rPr>
              <a:t>[SCREENSHOT: four icon states in toolbar]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6492240"/>
            <a:ext cx="9144000" cy="45720"/>
          </a:xfrm>
          <a:prstGeom prst="rect">
            <a:avLst/>
          </a:prstGeom>
          <a:solidFill>
            <a:srgbClr val="620272"/>
          </a:solidFill>
          <a:ln w="12700">
            <a:solidFill>
              <a:srgbClr val="620272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6202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The 5 Steps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20272"/>
          </a:solidFill>
          <a:ln w="12700">
            <a:solidFill>
              <a:srgbClr val="6202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Steps at a Glance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1078992"/>
            <a:ext cx="475488" cy="475488"/>
          </a:xfrm>
          <a:prstGeom prst="ellipse">
            <a:avLst/>
          </a:prstGeom>
          <a:solidFill>
            <a:srgbClr val="620272"/>
          </a:solidFill>
          <a:ln w="12700">
            <a:solidFill>
              <a:srgbClr val="6202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7899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1005840"/>
            <a:ext cx="7863840" cy="713232"/>
          </a:xfrm>
          <a:prstGeom prst="roundRect">
            <a:avLst>
              <a:gd name="adj" fmla="val 7692"/>
            </a:avLst>
          </a:prstGeom>
          <a:solidFill>
            <a:srgbClr val="F9F8FC"/>
          </a:solidFill>
          <a:ln w="12700">
            <a:solidFill>
              <a:srgbClr val="E0DC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078992"/>
            <a:ext cx="7680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Find the attendee  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Search Neon, click their name. Window opens automatically.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0040" y="1865376"/>
            <a:ext cx="475488" cy="475488"/>
          </a:xfrm>
          <a:prstGeom prst="ellipse">
            <a:avLst/>
          </a:prstGeom>
          <a:solidFill>
            <a:srgbClr val="620272"/>
          </a:solidFill>
          <a:ln w="12700">
            <a:solidFill>
              <a:srgbClr val="62027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86537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14400" y="1792224"/>
            <a:ext cx="7863840" cy="713232"/>
          </a:xfrm>
          <a:prstGeom prst="roundRect">
            <a:avLst>
              <a:gd name="adj" fmla="val 7692"/>
            </a:avLst>
          </a:prstGeom>
          <a:solidFill>
            <a:srgbClr val="F9F8FC"/>
          </a:solidFill>
          <a:ln w="12700">
            <a:solidFill>
              <a:srgbClr val="E0DC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1865376"/>
            <a:ext cx="7680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Read the account screen  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Green = wait. Yellow = read note + tick box. Red = Help Desk.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20040" y="2651760"/>
            <a:ext cx="475488" cy="475488"/>
          </a:xfrm>
          <a:prstGeom prst="ellipse">
            <a:avLst/>
          </a:prstGeom>
          <a:solidFill>
            <a:srgbClr val="620272"/>
          </a:solidFill>
          <a:ln w="12700">
            <a:solidFill>
              <a:srgbClr val="6202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6517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14400" y="2578608"/>
            <a:ext cx="7863840" cy="713232"/>
          </a:xfrm>
          <a:prstGeom prst="roundRect">
            <a:avLst>
              <a:gd name="adj" fmla="val 7692"/>
            </a:avLst>
          </a:prstGeom>
          <a:solidFill>
            <a:srgbClr val="F9F8FC"/>
          </a:solidFill>
          <a:ln w="12700">
            <a:solidFill>
              <a:srgbClr val="E0DC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2651760"/>
            <a:ext cx="7680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Pick the attendee from list  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Click Check In →. Rows saying 'Send to Help Desk' are blocked.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20040" y="3438144"/>
            <a:ext cx="475488" cy="475488"/>
          </a:xfrm>
          <a:prstGeom prst="ellipse">
            <a:avLst/>
          </a:prstGeom>
          <a:solidFill>
            <a:srgbClr val="620272"/>
          </a:solidFill>
          <a:ln w="12700">
            <a:solidFill>
              <a:srgbClr val="62027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43814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14400" y="3364992"/>
            <a:ext cx="7863840" cy="713232"/>
          </a:xfrm>
          <a:prstGeom prst="roundRect">
            <a:avLst>
              <a:gd name="adj" fmla="val 7692"/>
            </a:avLst>
          </a:prstGeom>
          <a:solidFill>
            <a:srgbClr val="F9F8FC"/>
          </a:solidFill>
          <a:ln w="12700">
            <a:solidFill>
              <a:srgbClr val="E0DC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3438144"/>
            <a:ext cx="7680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Do what the screen asks  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Age check (Adult/Dealer) or fix missing emergency contact.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20040" y="4224528"/>
            <a:ext cx="475488" cy="475488"/>
          </a:xfrm>
          <a:prstGeom prst="ellipse">
            <a:avLst/>
          </a:prstGeom>
          <a:solidFill>
            <a:srgbClr val="620272"/>
          </a:solidFill>
          <a:ln w="12700">
            <a:solidFill>
              <a:srgbClr val="62027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422452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14400" y="4151376"/>
            <a:ext cx="7863840" cy="713232"/>
          </a:xfrm>
          <a:prstGeom prst="roundRect">
            <a:avLst>
              <a:gd name="adj" fmla="val 7692"/>
            </a:avLst>
          </a:prstGeom>
          <a:solidFill>
            <a:srgbClr val="F9F8FC"/>
          </a:solidFill>
          <a:ln w="12700">
            <a:solidFill>
              <a:srgbClr val="E0DC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4224528"/>
            <a:ext cx="7680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Issue the badge  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Click 'Badge Issued' when BADGE NUMBER appears.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0" y="6492240"/>
            <a:ext cx="9144000" cy="45720"/>
          </a:xfrm>
          <a:prstGeom prst="rect">
            <a:avLst/>
          </a:prstGeom>
          <a:solidFill>
            <a:srgbClr val="620272"/>
          </a:solidFill>
          <a:ln w="12700">
            <a:solidFill>
              <a:srgbClr val="620272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20272"/>
          </a:solidFill>
          <a:ln w="12700">
            <a:solidFill>
              <a:srgbClr val="6202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Step 2 — Reading the Account Screen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384048" cy="384048"/>
          </a:xfrm>
          <a:prstGeom prst="ellipse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05156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</a:rPr>
              <a:t>Green: Ready for check-in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1508760"/>
            <a:ext cx="7955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Moves forward automatically. Wait.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2788920"/>
            <a:ext cx="384048" cy="384048"/>
          </a:xfrm>
          <a:prstGeom prst="ellipse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60604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</a:rPr>
              <a:t>Yellow — Note(s) on account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063240"/>
            <a:ext cx="7955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Read every note. Tick the checkbox, then click Proceed to Check-In.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0040" y="4343400"/>
            <a:ext cx="384048" cy="384048"/>
          </a:xfrm>
          <a:prstGeom prst="ellipse">
            <a:avLst/>
          </a:prstGeom>
          <a:solidFill>
            <a:srgbClr val="CC0202"/>
          </a:solidFill>
          <a:ln w="12700">
            <a:solidFill>
              <a:srgbClr val="CC020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16052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</a:rPr>
              <a:t>Red: SEND TO HELP DESK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4617720"/>
            <a:ext cx="7955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Stop. Send the attendee to the Help Desk without issuing anything.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0" y="6492240"/>
            <a:ext cx="9144000" cy="45720"/>
          </a:xfrm>
          <a:prstGeom prst="rect">
            <a:avLst/>
          </a:prstGeom>
          <a:solidFill>
            <a:srgbClr val="620272"/>
          </a:solidFill>
          <a:ln w="12700">
            <a:solidFill>
              <a:srgbClr val="620272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72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Age Verification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(Adult &amp; Dealer Badges)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20272"/>
          </a:solidFill>
          <a:ln w="12700">
            <a:solidFill>
              <a:srgbClr val="6202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Age Verification — Why &amp; When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594360"/>
          </a:xfrm>
          <a:prstGeom prst="roundRect">
            <a:avLst>
              <a:gd name="adj" fmla="val 12308"/>
            </a:avLst>
          </a:prstGeom>
          <a:solidFill>
            <a:srgbClr val="F0F7FF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33272"/>
            <a:ext cx="82296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</a:rPr>
              <a:t>Adult and Dealer ticket types require age verification. The screen blocks the badge until you confirm the ID.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20040" y="169164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The screen shows: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0040" y="2103120"/>
            <a:ext cx="3840480" cy="1737360"/>
          </a:xfrm>
          <a:prstGeom prst="roundRect">
            <a:avLst>
              <a:gd name="adj" fmla="val 5263"/>
            </a:avLst>
          </a:prstGeom>
          <a:solidFill>
            <a:srgbClr val="F8F8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24028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Legal Name
</a:t>
            </a:r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Sample, Angela
</a:t>
            </a:r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ID Required
</a:t>
            </a:r>
            <a:pPr indent="0" marL="0">
              <a:buNone/>
            </a:pPr>
            <a:r>
              <a:rPr lang="en-US" sz="1400" b="1" dirty="0">
                <a:solidFill>
                  <a:srgbClr val="CC0202"/>
                </a:solidFill>
              </a:rPr>
              <a:t>DOB on or before 7/3/2007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89120" y="2103120"/>
            <a:ext cx="44805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600"/>
              </a:spcBef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</a:rPr>
              <a:t>The cutoff date is calculated automatically.</a:t>
            </a:r>
            <a:endParaRPr lang="en-US" sz="1400" dirty="0"/>
          </a:p>
          <a:p>
            <a:pPr marL="342900" indent="-342900">
              <a:spcBef>
                <a:spcPts val="600"/>
              </a:spcBef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</a:rPr>
              <a:t>You only need to check the ID — no math required.</a:t>
            </a:r>
            <a:endParaRPr lang="en-US" sz="1400" dirty="0"/>
          </a:p>
          <a:p>
            <a:pPr marL="342900" indent="-342900">
              <a:spcBef>
                <a:spcPts val="600"/>
              </a:spcBef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</a:rPr>
              <a:t>The name shown is the legal name from Neon.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6492240"/>
            <a:ext cx="9144000" cy="45720"/>
          </a:xfrm>
          <a:prstGeom prst="rect">
            <a:avLst/>
          </a:prstGeom>
          <a:solidFill>
            <a:srgbClr val="620272"/>
          </a:solidFill>
          <a:ln w="12700">
            <a:solidFill>
              <a:srgbClr val="620272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20272"/>
          </a:solidFill>
          <a:ln w="12700">
            <a:solidFill>
              <a:srgbClr val="6202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Age Verification — Step by Step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1078992"/>
            <a:ext cx="475488" cy="475488"/>
          </a:xfrm>
          <a:prstGeom prst="ellipse">
            <a:avLst/>
          </a:prstGeom>
          <a:solidFill>
            <a:srgbClr val="620272"/>
          </a:solidFill>
          <a:ln w="12700">
            <a:solidFill>
              <a:srgbClr val="6202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7899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1005840"/>
            <a:ext cx="7863840" cy="713232"/>
          </a:xfrm>
          <a:prstGeom prst="roundRect">
            <a:avLst>
              <a:gd name="adj" fmla="val 7692"/>
            </a:avLst>
          </a:prstGeom>
          <a:solidFill>
            <a:srgbClr val="F9F8FC"/>
          </a:solidFill>
          <a:ln w="12700">
            <a:solidFill>
              <a:srgbClr val="E0DC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078992"/>
            <a:ext cx="7680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Ask for a government-issued photo ID  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Driver's license, passport, or state/government ID. Student IDs are not valid.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0040" y="1865376"/>
            <a:ext cx="475488" cy="475488"/>
          </a:xfrm>
          <a:prstGeom prst="ellipse">
            <a:avLst/>
          </a:prstGeom>
          <a:solidFill>
            <a:srgbClr val="620272"/>
          </a:solidFill>
          <a:ln w="12700">
            <a:solidFill>
              <a:srgbClr val="62027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86537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14400" y="1792224"/>
            <a:ext cx="7863840" cy="713232"/>
          </a:xfrm>
          <a:prstGeom prst="roundRect">
            <a:avLst>
              <a:gd name="adj" fmla="val 7692"/>
            </a:avLst>
          </a:prstGeom>
          <a:solidFill>
            <a:srgbClr val="F9F8FC"/>
          </a:solidFill>
          <a:ln w="12700">
            <a:solidFill>
              <a:srgbClr val="E0DC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1865376"/>
            <a:ext cx="7680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Confirm the face matches  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The person in front of you should clearly match the ID photo.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20040" y="2651760"/>
            <a:ext cx="475488" cy="475488"/>
          </a:xfrm>
          <a:prstGeom prst="ellipse">
            <a:avLst/>
          </a:prstGeom>
          <a:solidFill>
            <a:srgbClr val="620272"/>
          </a:solidFill>
          <a:ln w="12700">
            <a:solidFill>
              <a:srgbClr val="6202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6517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14400" y="2578608"/>
            <a:ext cx="7863840" cy="713232"/>
          </a:xfrm>
          <a:prstGeom prst="roundRect">
            <a:avLst>
              <a:gd name="adj" fmla="val 7692"/>
            </a:avLst>
          </a:prstGeom>
          <a:solidFill>
            <a:srgbClr val="F9F8FC"/>
          </a:solidFill>
          <a:ln w="12700">
            <a:solidFill>
              <a:srgbClr val="E0DC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2651760"/>
            <a:ext cx="7680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Read the date of birth  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It must be ON OR BEFORE the date shown on screen.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20040" y="3438144"/>
            <a:ext cx="475488" cy="475488"/>
          </a:xfrm>
          <a:prstGeom prst="ellipse">
            <a:avLst/>
          </a:prstGeom>
          <a:solidFill>
            <a:srgbClr val="620272"/>
          </a:solidFill>
          <a:ln w="12700">
            <a:solidFill>
              <a:srgbClr val="62027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43814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14400" y="3364992"/>
            <a:ext cx="7863840" cy="713232"/>
          </a:xfrm>
          <a:prstGeom prst="roundRect">
            <a:avLst>
              <a:gd name="adj" fmla="val 7692"/>
            </a:avLst>
          </a:prstGeom>
          <a:solidFill>
            <a:srgbClr val="F9F8FC"/>
          </a:solidFill>
          <a:ln w="12700">
            <a:solidFill>
              <a:srgbClr val="E0DC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3438144"/>
            <a:ext cx="7680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Return the ID immediately  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Hand it back before clicking anything. Don't set it on the desk.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20040" y="4224528"/>
            <a:ext cx="475488" cy="475488"/>
          </a:xfrm>
          <a:prstGeom prst="ellipse">
            <a:avLst/>
          </a:prstGeom>
          <a:solidFill>
            <a:srgbClr val="620272"/>
          </a:solidFill>
          <a:ln w="12700">
            <a:solidFill>
              <a:srgbClr val="62027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422452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14400" y="4151376"/>
            <a:ext cx="7863840" cy="713232"/>
          </a:xfrm>
          <a:prstGeom prst="roundRect">
            <a:avLst>
              <a:gd name="adj" fmla="val 7692"/>
            </a:avLst>
          </a:prstGeom>
          <a:solidFill>
            <a:srgbClr val="F9F8FC"/>
          </a:solidFill>
          <a:ln w="12700">
            <a:solidFill>
              <a:srgbClr val="E0DC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4224528"/>
            <a:ext cx="7680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Click Age Verified, ID Returned ✓  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Only after the ID is back in the attendee's hands.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0" y="6492240"/>
            <a:ext cx="9144000" cy="45720"/>
          </a:xfrm>
          <a:prstGeom prst="rect">
            <a:avLst/>
          </a:prstGeom>
          <a:solidFill>
            <a:srgbClr val="620272"/>
          </a:solidFill>
          <a:ln w="12700">
            <a:solidFill>
              <a:srgbClr val="620272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20272"/>
          </a:solidFill>
          <a:ln w="12700">
            <a:solidFill>
              <a:srgbClr val="6202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Age Verification — Call Your Lead If: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594360"/>
          </a:xfrm>
          <a:prstGeom prst="roundRect">
            <a:avLst>
              <a:gd name="adj" fmla="val 12308"/>
            </a:avLst>
          </a:prstGeom>
          <a:solidFill>
            <a:srgbClr val="FFF5F5"/>
          </a:solidFill>
          <a:ln w="12700">
            <a:solidFill>
              <a:srgbClr val="CC020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33272"/>
            <a:ext cx="82296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⛔  Do NOT click Age Verified in any of these situations — call a manager instead.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8412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600"/>
              </a:spcBef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The date of birth is AFTER the cutoff date (attendee is under 18).</a:t>
            </a:r>
            <a:endParaRPr lang="en-US" sz="1600" dirty="0"/>
          </a:p>
          <a:p>
            <a:pPr marL="342900" indent="-342900">
              <a:spcBef>
                <a:spcPts val="600"/>
              </a:spcBef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The face on the ID doesn't clearly match the person in front of you.</a:t>
            </a:r>
            <a:endParaRPr lang="en-US" sz="1600" dirty="0"/>
          </a:p>
          <a:p>
            <a:pPr marL="342900" indent="-342900">
              <a:spcBef>
                <a:spcPts val="600"/>
              </a:spcBef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The attendee doesn't have a government-issued photo ID.</a:t>
            </a:r>
            <a:endParaRPr lang="en-US" sz="1600" dirty="0"/>
          </a:p>
          <a:p>
            <a:pPr marL="342900" indent="-342900">
              <a:spcBef>
                <a:spcPts val="600"/>
              </a:spcBef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The legal name on screen doesn't match the name on the ID.</a:t>
            </a:r>
            <a:endParaRPr lang="en-US" sz="1600" dirty="0"/>
          </a:p>
          <a:p>
            <a:pPr marL="342900" indent="-342900">
              <a:spcBef>
                <a:spcPts val="600"/>
              </a:spcBef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You're unsure about anything on the ID.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6492240"/>
            <a:ext cx="9144000" cy="45720"/>
          </a:xfrm>
          <a:prstGeom prst="rect">
            <a:avLst/>
          </a:prstGeom>
          <a:solidFill>
            <a:srgbClr val="620272"/>
          </a:solidFill>
          <a:ln w="12700">
            <a:solidFill>
              <a:srgbClr val="620272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20272"/>
          </a:solidFill>
          <a:ln w="12700">
            <a:solidFill>
              <a:srgbClr val="6202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Missing Emergency Contact (ICE)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594360"/>
          </a:xfrm>
          <a:prstGeom prst="roundRect">
            <a:avLst>
              <a:gd name="adj" fmla="val 12308"/>
            </a:avLst>
          </a:prstGeom>
          <a:solidFill>
            <a:srgbClr val="FFFBF0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33272"/>
            <a:ext cx="82296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</a:rPr>
              <a:t>⚠  If the emergency contact field is blank, a yellow warning appears. You can fix this at the station.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" y="1764792"/>
            <a:ext cx="475488" cy="475488"/>
          </a:xfrm>
          <a:prstGeom prst="ellipse">
            <a:avLst/>
          </a:prstGeom>
          <a:solidFill>
            <a:srgbClr val="620272"/>
          </a:solidFill>
          <a:ln w="12700">
            <a:solidFill>
              <a:srgbClr val="6202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76479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1691640"/>
            <a:ext cx="7863840" cy="713232"/>
          </a:xfrm>
          <a:prstGeom prst="roundRect">
            <a:avLst>
              <a:gd name="adj" fmla="val 7692"/>
            </a:avLst>
          </a:prstGeom>
          <a:solidFill>
            <a:srgbClr val="F9F8FC"/>
          </a:solidFill>
          <a:ln w="12700">
            <a:solidFill>
              <a:srgbClr val="E0DC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764792"/>
            <a:ext cx="7680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Ask the attendee  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Get their emergency contact's name and phone number.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20040" y="2551176"/>
            <a:ext cx="475488" cy="475488"/>
          </a:xfrm>
          <a:prstGeom prst="ellipse">
            <a:avLst/>
          </a:prstGeom>
          <a:solidFill>
            <a:srgbClr val="620272"/>
          </a:solidFill>
          <a:ln w="12700">
            <a:solidFill>
              <a:srgbClr val="6202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55117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14400" y="2478024"/>
            <a:ext cx="7863840" cy="713232"/>
          </a:xfrm>
          <a:prstGeom prst="roundRect">
            <a:avLst>
              <a:gd name="adj" fmla="val 7692"/>
            </a:avLst>
          </a:prstGeom>
          <a:solidFill>
            <a:srgbClr val="F9F8FC"/>
          </a:solidFill>
          <a:ln w="12700">
            <a:solidFill>
              <a:srgbClr val="E0DC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2551176"/>
            <a:ext cx="7680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Click Show me the field ↓  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The field on the Neon form highlights in yellow behind the check-in window.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20040" y="3337560"/>
            <a:ext cx="475488" cy="475488"/>
          </a:xfrm>
          <a:prstGeom prst="ellipse">
            <a:avLst/>
          </a:prstGeom>
          <a:solidFill>
            <a:srgbClr val="620272"/>
          </a:solidFill>
          <a:ln w="12700">
            <a:solidFill>
              <a:srgbClr val="6202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33375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14400" y="3264408"/>
            <a:ext cx="7863840" cy="713232"/>
          </a:xfrm>
          <a:prstGeom prst="roundRect">
            <a:avLst>
              <a:gd name="adj" fmla="val 7692"/>
            </a:avLst>
          </a:prstGeom>
          <a:solidFill>
            <a:srgbClr val="F9F8FC"/>
          </a:solidFill>
          <a:ln w="12700">
            <a:solidFill>
              <a:srgbClr val="E0DC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3337560"/>
            <a:ext cx="7680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Type the information in  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Fill in the highlighted field on the Neon page.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20040" y="4123944"/>
            <a:ext cx="475488" cy="475488"/>
          </a:xfrm>
          <a:prstGeom prst="ellipse">
            <a:avLst/>
          </a:prstGeom>
          <a:solidFill>
            <a:srgbClr val="620272"/>
          </a:solidFill>
          <a:ln w="12700">
            <a:solidFill>
              <a:srgbClr val="6202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412394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14400" y="4050792"/>
            <a:ext cx="7863840" cy="713232"/>
          </a:xfrm>
          <a:prstGeom prst="roundRect">
            <a:avLst>
              <a:gd name="adj" fmla="val 7692"/>
            </a:avLst>
          </a:prstGeom>
          <a:solidFill>
            <a:srgbClr val="F9F8FC"/>
          </a:solidFill>
          <a:ln w="12700">
            <a:solidFill>
              <a:srgbClr val="E0DC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4123944"/>
            <a:ext cx="7680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Click Re-check ↺  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In the check-in window. If it saved, the warning clears.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0" y="6492240"/>
            <a:ext cx="9144000" cy="45720"/>
          </a:xfrm>
          <a:prstGeom prst="rect">
            <a:avLst/>
          </a:prstGeom>
          <a:solidFill>
            <a:srgbClr val="620272"/>
          </a:solidFill>
          <a:ln w="12700">
            <a:solidFill>
              <a:srgbClr val="620272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20272"/>
          </a:solidFill>
          <a:ln w="12700">
            <a:solidFill>
              <a:srgbClr val="6202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Step 5 — Issuing the Badge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594360"/>
          </a:xfrm>
          <a:prstGeom prst="roundRect">
            <a:avLst>
              <a:gd name="adj" fmla="val 12308"/>
            </a:avLst>
          </a:prstGeom>
          <a:solidFill>
            <a:srgbClr val="F0F7FF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33272"/>
            <a:ext cx="82296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BADGE NUMBER and ticket type appear only when ALL issues are resolved. If they're hidden, something still needs fixing.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8412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600"/>
              </a:spcBef>
              <a:buSzPct val="100000"/>
              <a:buChar char="•"/>
            </a:pPr>
            <a:r>
              <a:rPr lang="en-US" sz="1600" dirty="0">
                <a:solidFill>
                  <a:srgbClr val="0072B2"/>
                </a:solidFill>
              </a:rPr>
              <a:t>Badge Issued</a:t>
            </a:r>
            <a:endParaRPr lang="en-US" sz="1600" dirty="0"/>
          </a:p>
          <a:p>
            <a:pPr marL="152400" indent="-152400">
              <a:spcBef>
                <a:spcPts val="600"/>
              </a:spcBef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</a:rPr>
              <a:t>→ Standard check-in. Click to complete.</a:t>
            </a:r>
            <a:endParaRPr lang="en-US" sz="1600" dirty="0"/>
          </a:p>
          <a:p>
            <a:pPr marL="342900" indent="-342900">
              <a:spcBef>
                <a:spcPts val="600"/>
              </a:spcBef>
              <a:buSzPct val="100000"/>
              <a:buChar char="•"/>
            </a:pPr>
            <a:r>
              <a:rPr lang="en-US" sz="1600" dirty="0">
                <a:solidFill>
                  <a:srgbClr val="0072B2"/>
                </a:solidFill>
              </a:rPr>
              <a:t>Badge Issued - Send to Merchandise</a:t>
            </a:r>
            <a:endParaRPr lang="en-US" sz="1600" dirty="0"/>
          </a:p>
          <a:p>
            <a:pPr marL="152400" indent="-152400">
              <a:spcBef>
                <a:spcPts val="600"/>
              </a:spcBef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</a:rPr>
              <a:t>→ Same as above, but attendee also pre-ordered merch.</a:t>
            </a:r>
            <a:endParaRPr lang="en-US" sz="1600" dirty="0"/>
          </a:p>
          <a:p>
            <a:pPr marL="152400" indent="-152400">
              <a:spcBef>
                <a:spcPts val="600"/>
              </a:spcBef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</a:rPr>
              <a:t>   After clicking: tell them to visit the Merchandise table.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" y="4846320"/>
            <a:ext cx="8503920" cy="640080"/>
          </a:xfrm>
          <a:prstGeom prst="roundRect">
            <a:avLst>
              <a:gd name="adj" fmla="val 11429"/>
            </a:avLst>
          </a:prstGeom>
          <a:solidFill>
            <a:srgbClr val="F0FAF0"/>
          </a:solidFill>
          <a:ln w="12700">
            <a:solidFill>
              <a:srgbClr val="3283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919472"/>
            <a:ext cx="8229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After you click: extension downloads a badge CSV, records pickup in Neon, and resets for the next person.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6492240"/>
            <a:ext cx="9144000" cy="45720"/>
          </a:xfrm>
          <a:prstGeom prst="rect">
            <a:avLst/>
          </a:prstGeom>
          <a:solidFill>
            <a:srgbClr val="620272"/>
          </a:solidFill>
          <a:ln w="12700">
            <a:solidFill>
              <a:srgbClr val="620272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20272"/>
          </a:solidFill>
          <a:ln w="12700">
            <a:solidFill>
              <a:srgbClr val="6202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When to Call a Manager / Help Desk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5120640"/>
          </a:xfrm>
          <a:prstGeom prst="roundRect">
            <a:avLst>
              <a:gd name="adj" fmla="val 1786"/>
            </a:avLst>
          </a:prstGeom>
          <a:solidFill>
            <a:srgbClr val="FFF5F5"/>
          </a:solidFill>
          <a:ln w="12700">
            <a:solidFill>
              <a:srgbClr val="CC020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5156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600"/>
              </a:spcBef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Anything RED, or any Send to Help Desk / NOT ALLOWED message.</a:t>
            </a:r>
            <a:endParaRPr lang="en-US" sz="1500" dirty="0"/>
          </a:p>
          <a:p>
            <a:pPr marL="342900" indent="-342900">
              <a:spcBef>
                <a:spcPts val="600"/>
              </a:spcBef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A hold — Registration Hold, Art Show Hold, or Operations Hold.</a:t>
            </a:r>
            <a:endParaRPr lang="en-US" sz="1500" dirty="0"/>
          </a:p>
          <a:p>
            <a:pPr marL="342900" indent="-342900">
              <a:spcBef>
                <a:spcPts val="600"/>
              </a:spcBef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ID date of birth is after the cutoff (attendee under 18).</a:t>
            </a:r>
            <a:endParaRPr lang="en-US" sz="1500" dirty="0"/>
          </a:p>
          <a:p>
            <a:pPr marL="342900" indent="-342900">
              <a:spcBef>
                <a:spcPts val="600"/>
              </a:spcBef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Face on ID doesn't clearly match the person.</a:t>
            </a:r>
            <a:endParaRPr lang="en-US" sz="1500" dirty="0"/>
          </a:p>
          <a:p>
            <a:pPr marL="342900" indent="-342900">
              <a:spcBef>
                <a:spcPts val="600"/>
              </a:spcBef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No valid government-issued photo ID.</a:t>
            </a:r>
            <a:endParaRPr lang="en-US" sz="1500" dirty="0"/>
          </a:p>
          <a:p>
            <a:pPr marL="342900" indent="-342900">
              <a:spcBef>
                <a:spcPts val="600"/>
              </a:spcBef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Badge already issued — ALREADY ISSUED message on screen.</a:t>
            </a:r>
            <a:endParaRPr lang="en-US" sz="1500" dirty="0"/>
          </a:p>
          <a:p>
            <a:pPr marL="342900" indent="-342900">
              <a:spcBef>
                <a:spcPts val="600"/>
              </a:spcBef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Name mismatch — non-transferable badge, name doesn't match.</a:t>
            </a:r>
            <a:endParaRPr lang="en-US" sz="1500" dirty="0"/>
          </a:p>
          <a:p>
            <a:pPr marL="342900" indent="-342900">
              <a:spcBef>
                <a:spcPts val="600"/>
              </a:spcBef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Screen says badge file didn't download or contact Registration Head.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20040" y="580644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C0202"/>
                </a:solidFill>
              </a:rPr>
              <a:t>When in doubt — don't issue the badge. Ask first.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6492240"/>
            <a:ext cx="9144000" cy="45720"/>
          </a:xfrm>
          <a:prstGeom prst="rect">
            <a:avLst/>
          </a:prstGeom>
          <a:solidFill>
            <a:srgbClr val="620272"/>
          </a:solidFill>
          <a:ln w="12700">
            <a:solidFill>
              <a:srgbClr val="620272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2026-05-30T18:39:00Z</dcterms:created>
  <dcterms:modified xsi:type="dcterms:W3CDTF">2026-05-30T18:39:00Z</dcterms:modified>
</cp:coreProperties>
</file>